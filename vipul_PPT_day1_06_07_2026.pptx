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2"/>
    <p:sldId id="256" r:id="rId3"/>
    <p:sldId id="257" r:id="rId4"/>
    <p:sldId id="258" r:id="rId5"/>
    <p:sldId id="259" r:id="rId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3" d="100"/>
          <a:sy n="73" d="100"/>
        </p:scale>
        <p:origin x="1042"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476A3CCF-497A-3F88-929C-B7D4B28190BB}"/>
              </a:ext>
            </a:extLst>
          </p:cNvPr>
          <p:cNvSpPr txBox="1"/>
          <p:nvPr/>
        </p:nvSpPr>
        <p:spPr>
          <a:xfrm>
            <a:off x="-274320" y="5887767"/>
            <a:ext cx="10942320" cy="483209"/>
          </a:xfrm>
          <a:prstGeom prst="rect">
            <a:avLst/>
          </a:prstGeom>
          <a:noFill/>
        </p:spPr>
        <p:txBody>
          <a:bodyPr wrap="square">
            <a:spAutoFit/>
          </a:bodyPr>
          <a:lstStyle/>
          <a:p>
            <a:pPr lvl="0" algn="ctr">
              <a:lnSpc>
                <a:spcPct val="139948"/>
              </a:lnSpc>
            </a:pPr>
            <a:r>
              <a:rPr lang="en-US" sz="2000" b="1" dirty="0">
                <a:solidFill>
                  <a:schemeClr val="tx2">
                    <a:lumMod val="50000"/>
                  </a:schemeClr>
                </a:solidFill>
                <a:latin typeface="Urbanist"/>
                <a:ea typeface="Urbanist"/>
                <a:cs typeface="Urbanist"/>
                <a:sym typeface="Urbanist"/>
              </a:rPr>
              <a:t>Stream:</a:t>
            </a:r>
            <a:r>
              <a:rPr lang="en-US" sz="2000" dirty="0">
                <a:solidFill>
                  <a:schemeClr val="tx2">
                    <a:lumMod val="50000"/>
                  </a:schemeClr>
                </a:solidFill>
                <a:latin typeface="Urbanist"/>
                <a:ea typeface="Urbanist"/>
                <a:cs typeface="Urbanist"/>
                <a:sym typeface="Urbanist"/>
              </a:rPr>
              <a:t> Computer Science &amp; Engineering  |  </a:t>
            </a:r>
            <a:r>
              <a:rPr lang="en-US" sz="2000" b="1" dirty="0">
                <a:solidFill>
                  <a:schemeClr val="tx2">
                    <a:lumMod val="50000"/>
                  </a:schemeClr>
                </a:solidFill>
                <a:latin typeface="Urbanist"/>
                <a:ea typeface="Urbanist"/>
                <a:cs typeface="Urbanist"/>
                <a:sym typeface="Urbanist"/>
              </a:rPr>
              <a:t>College:</a:t>
            </a:r>
            <a:r>
              <a:rPr lang="en-US" sz="2000" dirty="0">
                <a:solidFill>
                  <a:schemeClr val="tx2">
                    <a:lumMod val="50000"/>
                  </a:schemeClr>
                </a:solidFill>
                <a:latin typeface="Urbanist"/>
                <a:ea typeface="Urbanist"/>
                <a:cs typeface="Urbanist"/>
                <a:sym typeface="Urbanist"/>
              </a:rPr>
              <a:t> R. N.G. Patel Institute Of Technology</a:t>
            </a:r>
            <a:endParaRPr lang="en-US" sz="2000" dirty="0">
              <a:solidFill>
                <a:schemeClr val="tx2">
                  <a:lumMod val="50000"/>
                </a:schemeClr>
              </a:solidFill>
            </a:endParaRPr>
          </a:p>
        </p:txBody>
      </p:sp>
      <p:sp>
        <p:nvSpPr>
          <p:cNvPr id="14" name="Google Shape;85;p13">
            <a:extLst>
              <a:ext uri="{FF2B5EF4-FFF2-40B4-BE49-F238E27FC236}">
                <a16:creationId xmlns:a16="http://schemas.microsoft.com/office/drawing/2014/main" id="{7DAB704D-5811-7751-2260-E20F006CE2DB}"/>
              </a:ext>
            </a:extLst>
          </p:cNvPr>
          <p:cNvSpPr txBox="1"/>
          <p:nvPr/>
        </p:nvSpPr>
        <p:spPr>
          <a:xfrm>
            <a:off x="-717438" y="5442708"/>
            <a:ext cx="7856100" cy="43088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39948"/>
              </a:lnSpc>
              <a:spcBef>
                <a:spcPts val="0"/>
              </a:spcBef>
              <a:spcAft>
                <a:spcPts val="0"/>
              </a:spcAft>
              <a:buNone/>
            </a:pPr>
            <a:r>
              <a:rPr lang="en-US" sz="2000" b="1" i="0" u="none" strike="noStrike" cap="none" dirty="0">
                <a:solidFill>
                  <a:schemeClr val="tx2">
                    <a:lumMod val="50000"/>
                  </a:schemeClr>
                </a:solidFill>
                <a:latin typeface="Urbanist"/>
                <a:ea typeface="Urbanist"/>
                <a:cs typeface="Urbanist"/>
                <a:sym typeface="Urbanist"/>
              </a:rPr>
              <a:t>Name:</a:t>
            </a:r>
            <a:r>
              <a:rPr lang="en-US" sz="2000" b="0" i="0" u="none" strike="noStrike" cap="none" dirty="0">
                <a:solidFill>
                  <a:schemeClr val="tx2">
                    <a:lumMod val="50000"/>
                  </a:schemeClr>
                </a:solidFill>
                <a:latin typeface="Urbanist"/>
                <a:ea typeface="Urbanist"/>
                <a:cs typeface="Urbanist"/>
                <a:sym typeface="Urbanist"/>
              </a:rPr>
              <a:t> </a:t>
            </a:r>
            <a:r>
              <a:rPr lang="en-US" sz="2000" dirty="0">
                <a:solidFill>
                  <a:schemeClr val="tx2">
                    <a:lumMod val="50000"/>
                  </a:schemeClr>
                </a:solidFill>
                <a:latin typeface="Urbanist"/>
                <a:ea typeface="Urbanist"/>
                <a:cs typeface="Urbanist"/>
                <a:sym typeface="Urbanist"/>
              </a:rPr>
              <a:t>Vipul Prajapati</a:t>
            </a:r>
            <a:r>
              <a:rPr lang="en-US" sz="2000" b="0" i="0" u="none" strike="noStrike" cap="none" dirty="0">
                <a:solidFill>
                  <a:schemeClr val="tx2">
                    <a:lumMod val="50000"/>
                  </a:schemeClr>
                </a:solidFill>
                <a:latin typeface="Urbanist"/>
                <a:ea typeface="Urbanist"/>
                <a:cs typeface="Urbanist"/>
                <a:sym typeface="Urbanist"/>
              </a:rPr>
              <a:t> |  </a:t>
            </a:r>
            <a:r>
              <a:rPr lang="en-US" sz="2000" b="1" i="0" u="none" strike="noStrike" cap="none" dirty="0">
                <a:solidFill>
                  <a:schemeClr val="tx2">
                    <a:lumMod val="50000"/>
                  </a:schemeClr>
                </a:solidFill>
                <a:latin typeface="Urbanist"/>
                <a:ea typeface="Urbanist"/>
                <a:cs typeface="Urbanist"/>
                <a:sym typeface="Urbanist"/>
              </a:rPr>
              <a:t>Enrollment:</a:t>
            </a:r>
            <a:r>
              <a:rPr lang="en-US" sz="2000" dirty="0">
                <a:solidFill>
                  <a:schemeClr val="tx2">
                    <a:lumMod val="50000"/>
                  </a:schemeClr>
                </a:solidFill>
                <a:latin typeface="Urbanist"/>
                <a:ea typeface="Urbanist"/>
                <a:cs typeface="Urbanist"/>
                <a:sym typeface="Urbanist"/>
              </a:rPr>
              <a:t> 23084013116</a:t>
            </a:r>
            <a:endParaRPr sz="2000" dirty="0">
              <a:solidFill>
                <a:schemeClr val="tx2">
                  <a:lumMod val="50000"/>
                </a:schemeClr>
              </a:solidFill>
            </a:endParaRPr>
          </a:p>
        </p:txBody>
      </p:sp>
      <p:sp>
        <p:nvSpPr>
          <p:cNvPr id="20" name="TextBox 19">
            <a:extLst>
              <a:ext uri="{FF2B5EF4-FFF2-40B4-BE49-F238E27FC236}">
                <a16:creationId xmlns:a16="http://schemas.microsoft.com/office/drawing/2014/main" id="{FF5AC2EF-BF7E-3832-D5CB-7DCF48242CCB}"/>
              </a:ext>
            </a:extLst>
          </p:cNvPr>
          <p:cNvSpPr txBox="1"/>
          <p:nvPr/>
        </p:nvSpPr>
        <p:spPr>
          <a:xfrm>
            <a:off x="530941" y="1199848"/>
            <a:ext cx="11385756" cy="3847207"/>
          </a:xfrm>
          <a:prstGeom prst="rect">
            <a:avLst/>
          </a:prstGeom>
          <a:noFill/>
        </p:spPr>
        <p:txBody>
          <a:bodyPr wrap="square">
            <a:spAutoFit/>
          </a:bodyPr>
          <a:lstStyle/>
          <a:p>
            <a:r>
              <a:rPr lang="en-IN" sz="2800" dirty="0"/>
              <a:t>Smart Education Platform using AI</a:t>
            </a:r>
          </a:p>
          <a:p>
            <a:endParaRPr lang="en-IN" b="1" dirty="0"/>
          </a:p>
          <a:p>
            <a:r>
              <a:rPr lang="en-US" dirty="0"/>
              <a:t>Smart Education with AI analyzes each student's learning style, performance, and progress to provide personalized education. It uses artificial intelligence to recommend study materials, identify weak areas, and support teachers with real-time insights</a:t>
            </a:r>
            <a:r>
              <a:rPr lang="en-US" b="1" dirty="0"/>
              <a:t>.</a:t>
            </a:r>
          </a:p>
          <a:p>
            <a:endParaRPr lang="en-US" b="1" dirty="0"/>
          </a:p>
          <a:p>
            <a:r>
              <a:rPr lang="en-US" b="1" dirty="0"/>
              <a:t>📚 Personalized Learning Paths</a:t>
            </a:r>
          </a:p>
          <a:p>
            <a:r>
              <a:rPr lang="en-US" b="1" dirty="0"/>
              <a:t>🤖 AI-Powered Study Recommendations</a:t>
            </a:r>
          </a:p>
          <a:p>
            <a:r>
              <a:rPr lang="en-US" b="1" dirty="0"/>
              <a:t>📈 Student Performance Analytics</a:t>
            </a:r>
          </a:p>
          <a:p>
            <a:r>
              <a:rPr lang="en-US" b="1" dirty="0"/>
              <a:t>📝 Smart Quiz &amp; Instant Feedback</a:t>
            </a:r>
          </a:p>
          <a:p>
            <a:endParaRPr lang="en-US" b="1" dirty="0"/>
          </a:p>
          <a:p>
            <a:r>
              <a:rPr lang="en-US" dirty="0"/>
              <a:t>An AI-powered smart education platform that helps students learn more effectively through personalized guidance, adaptive learning, and intelligent performance tracking.</a:t>
            </a:r>
            <a:endParaRPr lang="en-IN" dirty="0"/>
          </a:p>
        </p:txBody>
      </p:sp>
      <p:sp>
        <p:nvSpPr>
          <p:cNvPr id="22" name="Rectangle 21">
            <a:extLst>
              <a:ext uri="{FF2B5EF4-FFF2-40B4-BE49-F238E27FC236}">
                <a16:creationId xmlns:a16="http://schemas.microsoft.com/office/drawing/2014/main" id="{84D3BCD5-7201-4832-85D9-229ACBCB3F6A}"/>
              </a:ext>
            </a:extLst>
          </p:cNvPr>
          <p:cNvSpPr/>
          <p:nvPr/>
        </p:nvSpPr>
        <p:spPr>
          <a:xfrm>
            <a:off x="-127" y="-14172"/>
            <a:ext cx="12188952" cy="700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endParaRPr dirty="0"/>
          </a:p>
        </p:txBody>
      </p:sp>
      <p:sp>
        <p:nvSpPr>
          <p:cNvPr id="30" name="TextBox 29">
            <a:extLst>
              <a:ext uri="{FF2B5EF4-FFF2-40B4-BE49-F238E27FC236}">
                <a16:creationId xmlns:a16="http://schemas.microsoft.com/office/drawing/2014/main" id="{F3F89F82-E3B3-8B82-E845-DE4754A2288F}"/>
              </a:ext>
            </a:extLst>
          </p:cNvPr>
          <p:cNvSpPr txBox="1"/>
          <p:nvPr/>
        </p:nvSpPr>
        <p:spPr>
          <a:xfrm>
            <a:off x="1011246" y="0"/>
            <a:ext cx="9656753" cy="1746953"/>
          </a:xfrm>
          <a:prstGeom prst="rect">
            <a:avLst/>
          </a:prstGeom>
          <a:noFill/>
        </p:spPr>
        <p:txBody>
          <a:bodyPr wrap="square">
            <a:spAutoFit/>
          </a:bodyPr>
          <a:lstStyle/>
          <a:p>
            <a:pPr algn="ctr">
              <a:lnSpc>
                <a:spcPct val="119975"/>
              </a:lnSpc>
            </a:pPr>
            <a:r>
              <a:rPr lang="en-US" sz="2800" b="1" i="0" u="none" strike="noStrike" cap="none" dirty="0">
                <a:solidFill>
                  <a:schemeClr val="bg1"/>
                </a:solidFill>
                <a:latin typeface="Urbanist"/>
                <a:ea typeface="Urbanist"/>
                <a:cs typeface="Urbanist"/>
                <a:sym typeface="Urbanist"/>
              </a:rPr>
              <a:t>Project : </a:t>
            </a:r>
            <a:r>
              <a:rPr lang="en-IN" sz="2800" b="1" i="0" u="none" strike="noStrike" cap="none" dirty="0">
                <a:solidFill>
                  <a:schemeClr val="bg1"/>
                </a:solidFill>
                <a:latin typeface="Urbanist"/>
                <a:ea typeface="Urbanist"/>
                <a:cs typeface="Urbanist"/>
                <a:sym typeface="Urbanist"/>
              </a:rPr>
              <a:t>Smart Education Platform using</a:t>
            </a:r>
            <a:r>
              <a:rPr lang="en-IN" sz="2800" dirty="0">
                <a:solidFill>
                  <a:schemeClr val="bg1"/>
                </a:solidFill>
              </a:rPr>
              <a:t> AI</a:t>
            </a:r>
          </a:p>
          <a:p>
            <a:pPr algn="ctr">
              <a:lnSpc>
                <a:spcPct val="119975"/>
              </a:lnSpc>
            </a:pPr>
            <a:endParaRPr lang="en-IN" sz="2800" b="1" dirty="0">
              <a:solidFill>
                <a:schemeClr val="bg1"/>
              </a:solidFill>
            </a:endParaRPr>
          </a:p>
          <a:p>
            <a:pPr lvl="0" algn="ctr">
              <a:lnSpc>
                <a:spcPct val="119975"/>
              </a:lnSpc>
            </a:pPr>
            <a:endParaRPr lang="en-US" sz="3600" dirty="0">
              <a:solidFill>
                <a:schemeClr val="bg1"/>
              </a:solidFill>
            </a:endParaRPr>
          </a:p>
        </p:txBody>
      </p:sp>
    </p:spTree>
    <p:extLst>
      <p:ext uri="{BB962C8B-B14F-4D97-AF65-F5344CB8AC3E}">
        <p14:creationId xmlns:p14="http://schemas.microsoft.com/office/powerpoint/2010/main" val="446256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8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00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rPr dirty="0"/>
              <a:t>UN SDG </a:t>
            </a:r>
            <a:r>
              <a:rPr lang="en-IN" dirty="0"/>
              <a:t>4</a:t>
            </a:r>
            <a:r>
              <a:rPr dirty="0"/>
              <a:t>: </a:t>
            </a:r>
            <a:r>
              <a:rPr lang="en-IN" dirty="0"/>
              <a:t>Quality Education</a:t>
            </a:r>
            <a:endParaRPr dirty="0"/>
          </a:p>
        </p:txBody>
      </p:sp>
      <p:sp>
        <p:nvSpPr>
          <p:cNvPr id="4" name="TextBox 3"/>
          <p:cNvSpPr txBox="1"/>
          <p:nvPr/>
        </p:nvSpPr>
        <p:spPr>
          <a:xfrm>
            <a:off x="640080" y="1097279"/>
            <a:ext cx="7406640" cy="5509200"/>
          </a:xfrm>
          <a:prstGeom prst="rect">
            <a:avLst/>
          </a:prstGeom>
          <a:noFill/>
        </p:spPr>
        <p:txBody>
          <a:bodyPr wrap="square">
            <a:spAutoFit/>
          </a:bodyPr>
          <a:lstStyle/>
          <a:p>
            <a:pPr>
              <a:defRPr sz="2200"/>
            </a:pPr>
            <a:r>
              <a:rPr sz="3200" dirty="0"/>
              <a:t>•</a:t>
            </a:r>
            <a:r>
              <a:rPr lang="en-US" sz="3200" dirty="0"/>
              <a:t>Education is the foundation for a better future.</a:t>
            </a:r>
          </a:p>
          <a:p>
            <a:pPr>
              <a:defRPr sz="2200"/>
            </a:pPr>
            <a:endParaRPr sz="3200" dirty="0"/>
          </a:p>
          <a:p>
            <a:pPr>
              <a:defRPr sz="2200"/>
            </a:pPr>
            <a:r>
              <a:rPr sz="3200" dirty="0"/>
              <a:t>• </a:t>
            </a:r>
            <a:r>
              <a:rPr lang="en-US" sz="3200" dirty="0"/>
              <a:t>Use AI to make learning personalized, interactive, and accessible for every student.</a:t>
            </a:r>
          </a:p>
          <a:p>
            <a:pPr>
              <a:defRPr sz="2200"/>
            </a:pPr>
            <a:endParaRPr sz="3200" dirty="0"/>
          </a:p>
          <a:p>
            <a:pPr>
              <a:defRPr sz="2200"/>
            </a:pPr>
            <a:r>
              <a:rPr sz="3200" dirty="0"/>
              <a:t>•</a:t>
            </a:r>
            <a:r>
              <a:rPr lang="en-IN" sz="3200" dirty="0"/>
              <a:t>I</a:t>
            </a:r>
            <a:r>
              <a:rPr lang="en-US" sz="3200" dirty="0" err="1"/>
              <a:t>mprove</a:t>
            </a:r>
            <a:r>
              <a:rPr lang="en-US" sz="3200" dirty="0"/>
              <a:t> student performance, teacher efficiency, and lifelong learning opportunities.</a:t>
            </a:r>
          </a:p>
          <a:p>
            <a:pPr>
              <a:defRPr sz="2200"/>
            </a:pPr>
            <a:endParaRPr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8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00000"/>
          </a:xfrm>
          <a:prstGeom prst="rect">
            <a:avLst/>
          </a:prstGeom>
          <a:solidFill>
            <a:schemeClr val="accent1">
              <a:lumMod val="75000"/>
            </a:schemeClr>
          </a:solidFill>
          <a:ln>
            <a:solidFill>
              <a:schemeClr val="bg2">
                <a:lumMod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rPr lang="en-IN" dirty="0"/>
              <a:t>Challenges</a:t>
            </a:r>
            <a:r>
              <a:rPr dirty="0"/>
              <a:t> &amp; Global </a:t>
            </a:r>
            <a:r>
              <a:rPr dirty="0" err="1"/>
              <a:t>Im</a:t>
            </a:r>
            <a:r>
              <a:rPr lang="en-IN" dirty="0"/>
              <a:t>pact</a:t>
            </a:r>
            <a:endParaRPr dirty="0"/>
          </a:p>
        </p:txBody>
      </p:sp>
      <p:sp>
        <p:nvSpPr>
          <p:cNvPr id="3" name="Rounded Rectangle 2"/>
          <p:cNvSpPr/>
          <p:nvPr/>
        </p:nvSpPr>
        <p:spPr>
          <a:xfrm>
            <a:off x="640080" y="930132"/>
            <a:ext cx="2811043" cy="2727468"/>
          </a:xfrm>
          <a:prstGeom prst="roundRect">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rPr dirty="0">
                <a:solidFill>
                  <a:schemeClr val="tx1"/>
                </a:solidFill>
              </a:rPr>
              <a:t>• </a:t>
            </a:r>
            <a:r>
              <a:rPr lang="en-IN" dirty="0">
                <a:solidFill>
                  <a:schemeClr val="tx1"/>
                </a:solidFill>
              </a:rPr>
              <a:t>AI requires internet access</a:t>
            </a:r>
            <a:br>
              <a:rPr dirty="0">
                <a:solidFill>
                  <a:schemeClr val="tx1"/>
                </a:solidFill>
              </a:rPr>
            </a:br>
            <a:endParaRPr lang="en-US" dirty="0">
              <a:solidFill>
                <a:schemeClr val="tx1"/>
              </a:solidFill>
            </a:endParaRPr>
          </a:p>
          <a:p>
            <a:pPr algn="ctr">
              <a:defRPr sz="2000"/>
            </a:pPr>
            <a:r>
              <a:rPr dirty="0">
                <a:solidFill>
                  <a:schemeClr val="tx1"/>
                </a:solidFill>
              </a:rPr>
              <a:t>• </a:t>
            </a:r>
            <a:r>
              <a:rPr lang="en-IN" dirty="0">
                <a:solidFill>
                  <a:schemeClr val="tx1"/>
                </a:solidFill>
              </a:rPr>
              <a:t> quality data</a:t>
            </a:r>
            <a:br>
              <a:rPr dirty="0">
                <a:solidFill>
                  <a:schemeClr val="tx1"/>
                </a:solidFill>
              </a:rPr>
            </a:br>
            <a:endParaRPr lang="en-US" dirty="0">
              <a:solidFill>
                <a:schemeClr val="tx1"/>
              </a:solidFill>
            </a:endParaRPr>
          </a:p>
          <a:p>
            <a:pPr algn="ctr">
              <a:defRPr sz="2000"/>
            </a:pPr>
            <a:r>
              <a:rPr dirty="0">
                <a:solidFill>
                  <a:schemeClr val="tx1"/>
                </a:solidFill>
              </a:rPr>
              <a:t>• </a:t>
            </a:r>
            <a:r>
              <a:rPr lang="en-IN" dirty="0">
                <a:solidFill>
                  <a:schemeClr val="tx1"/>
                </a:solidFill>
              </a:rPr>
              <a:t>should protect student privacy</a:t>
            </a:r>
            <a:br>
              <a:rPr dirty="0">
                <a:solidFill>
                  <a:schemeClr val="tx1"/>
                </a:solidFill>
              </a:rPr>
            </a:br>
            <a:endParaRPr lang="en-US" dirty="0">
              <a:solidFill>
                <a:schemeClr val="tx1"/>
              </a:solidFill>
            </a:endParaRPr>
          </a:p>
        </p:txBody>
      </p:sp>
      <p:sp>
        <p:nvSpPr>
          <p:cNvPr id="4" name="Rounded Rectangle 3"/>
          <p:cNvSpPr/>
          <p:nvPr/>
        </p:nvSpPr>
        <p:spPr>
          <a:xfrm>
            <a:off x="640080" y="4080388"/>
            <a:ext cx="2928045" cy="2562286"/>
          </a:xfrm>
          <a:prstGeom prst="roundRect">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rPr dirty="0">
                <a:solidFill>
                  <a:schemeClr val="tx1"/>
                </a:solidFill>
              </a:rPr>
              <a:t>• </a:t>
            </a:r>
            <a:r>
              <a:rPr lang="en-IN" dirty="0">
                <a:solidFill>
                  <a:schemeClr val="tx1"/>
                </a:solidFill>
              </a:rPr>
              <a:t>Personalized Learning Paths</a:t>
            </a:r>
            <a:endParaRPr lang="en-US" dirty="0">
              <a:solidFill>
                <a:schemeClr val="tx1"/>
              </a:solidFill>
            </a:endParaRPr>
          </a:p>
          <a:p>
            <a:pPr algn="ctr">
              <a:defRPr sz="2000"/>
            </a:pPr>
            <a:br>
              <a:rPr dirty="0">
                <a:solidFill>
                  <a:schemeClr val="tx1"/>
                </a:solidFill>
              </a:rPr>
            </a:br>
            <a:r>
              <a:rPr dirty="0">
                <a:solidFill>
                  <a:schemeClr val="tx1"/>
                </a:solidFill>
              </a:rPr>
              <a:t>• </a:t>
            </a:r>
            <a:r>
              <a:rPr lang="en-IN" dirty="0">
                <a:solidFill>
                  <a:schemeClr val="tx1"/>
                </a:solidFill>
              </a:rPr>
              <a:t>AI Study Recommendations</a:t>
            </a:r>
            <a:br>
              <a:rPr dirty="0">
                <a:solidFill>
                  <a:schemeClr val="tx1"/>
                </a:solidFill>
              </a:rPr>
            </a:br>
            <a:endParaRPr lang="en-US" dirty="0">
              <a:solidFill>
                <a:schemeClr val="tx1"/>
              </a:solidFill>
            </a:endParaRPr>
          </a:p>
          <a:p>
            <a:pPr algn="ctr">
              <a:defRPr sz="2000"/>
            </a:pPr>
            <a:r>
              <a:rPr dirty="0">
                <a:solidFill>
                  <a:schemeClr val="tx1"/>
                </a:solidFill>
              </a:rPr>
              <a:t>•</a:t>
            </a:r>
            <a:r>
              <a:rPr lang="en-IN" dirty="0">
                <a:solidFill>
                  <a:schemeClr val="tx1"/>
                </a:solidFill>
              </a:rPr>
              <a:t> Smart Quiz &amp; Instant Feedback</a:t>
            </a:r>
            <a:endParaRPr lang="en-US" dirty="0">
              <a:solidFill>
                <a:schemeClr val="tx1"/>
              </a:solidFill>
            </a:endParaRPr>
          </a:p>
        </p:txBody>
      </p:sp>
      <p:pic>
        <p:nvPicPr>
          <p:cNvPr id="9" name="Picture 8">
            <a:extLst>
              <a:ext uri="{FF2B5EF4-FFF2-40B4-BE49-F238E27FC236}">
                <a16:creationId xmlns:a16="http://schemas.microsoft.com/office/drawing/2014/main" id="{FD56BA19-A441-4497-85BB-3D2BE73AB7D7}"/>
              </a:ext>
            </a:extLst>
          </p:cNvPr>
          <p:cNvPicPr>
            <a:picLocks noChangeAspect="1"/>
          </p:cNvPicPr>
          <p:nvPr/>
        </p:nvPicPr>
        <p:blipFill>
          <a:blip r:embed="rId2"/>
          <a:stretch>
            <a:fillRect/>
          </a:stretch>
        </p:blipFill>
        <p:spPr>
          <a:xfrm>
            <a:off x="4286865" y="1214283"/>
            <a:ext cx="7472516" cy="5206181"/>
          </a:xfrm>
          <a:prstGeom prst="rect">
            <a:avLst/>
          </a:prstGeom>
        </p:spPr>
      </p:pic>
      <p:pic>
        <p:nvPicPr>
          <p:cNvPr id="6" name="Picture 5">
            <a:extLst>
              <a:ext uri="{FF2B5EF4-FFF2-40B4-BE49-F238E27FC236}">
                <a16:creationId xmlns:a16="http://schemas.microsoft.com/office/drawing/2014/main" id="{1761653F-0252-3FB3-9D77-C8257D91B079}"/>
              </a:ext>
            </a:extLst>
          </p:cNvPr>
          <p:cNvPicPr>
            <a:picLocks noChangeAspect="1"/>
          </p:cNvPicPr>
          <p:nvPr/>
        </p:nvPicPr>
        <p:blipFill>
          <a:blip r:embed="rId3"/>
          <a:stretch>
            <a:fillRect/>
          </a:stretch>
        </p:blipFill>
        <p:spPr>
          <a:xfrm>
            <a:off x="4286864" y="1214282"/>
            <a:ext cx="7472517" cy="521448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8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000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AI &amp; Technology</a:t>
            </a:r>
          </a:p>
        </p:txBody>
      </p:sp>
      <p:sp>
        <p:nvSpPr>
          <p:cNvPr id="3" name="TextBox 2"/>
          <p:cNvSpPr txBox="1"/>
          <p:nvPr/>
        </p:nvSpPr>
        <p:spPr>
          <a:xfrm>
            <a:off x="640081" y="1005840"/>
            <a:ext cx="7315199" cy="6001643"/>
          </a:xfrm>
          <a:prstGeom prst="rect">
            <a:avLst/>
          </a:prstGeom>
          <a:noFill/>
        </p:spPr>
        <p:txBody>
          <a:bodyPr wrap="square">
            <a:spAutoFit/>
          </a:bodyPr>
          <a:lstStyle/>
          <a:p>
            <a:pPr>
              <a:defRPr sz="2200"/>
            </a:pPr>
            <a:r>
              <a:rPr lang="en-US" sz="3200" dirty="0"/>
              <a:t>🤖 AI personalizes learning for every student.</a:t>
            </a:r>
          </a:p>
          <a:p>
            <a:pPr>
              <a:defRPr sz="2200"/>
            </a:pPr>
            <a:endParaRPr sz="3200" dirty="0"/>
          </a:p>
          <a:p>
            <a:pPr>
              <a:defRPr sz="2200"/>
            </a:pPr>
            <a:r>
              <a:rPr lang="en-IN" sz="3200" dirty="0"/>
              <a:t>📚</a:t>
            </a:r>
            <a:r>
              <a:rPr sz="3200" dirty="0"/>
              <a:t> </a:t>
            </a:r>
            <a:r>
              <a:rPr lang="en-US" sz="3200" dirty="0"/>
              <a:t>Smart recommendations for study materials and courses.</a:t>
            </a:r>
            <a:endParaRPr lang="en-IN" sz="3200" dirty="0"/>
          </a:p>
          <a:p>
            <a:pPr>
              <a:defRPr sz="2200"/>
            </a:pPr>
            <a:endParaRPr lang="en-IN" sz="3200" dirty="0"/>
          </a:p>
          <a:p>
            <a:pPr>
              <a:defRPr sz="2200"/>
            </a:pPr>
            <a:r>
              <a:rPr lang="en-IN" sz="3200" dirty="0"/>
              <a:t>📊  </a:t>
            </a:r>
            <a:r>
              <a:rPr lang="en-US" sz="3200" dirty="0"/>
              <a:t>Real-time performance tracking and learning analytics.</a:t>
            </a:r>
            <a:endParaRPr lang="en-IN" sz="3200" dirty="0"/>
          </a:p>
          <a:p>
            <a:pPr>
              <a:defRPr sz="2200"/>
            </a:pPr>
            <a:endParaRPr lang="en-US" sz="3200" dirty="0"/>
          </a:p>
          <a:p>
            <a:pPr>
              <a:defRPr sz="2200"/>
            </a:pPr>
            <a:r>
              <a:rPr lang="en-IN" sz="3200" dirty="0"/>
              <a:t>📝 </a:t>
            </a:r>
            <a:r>
              <a:rPr sz="3200" dirty="0"/>
              <a:t> </a:t>
            </a:r>
            <a:r>
              <a:rPr lang="en-US" sz="3200" dirty="0"/>
              <a:t>AI-powered quizzes with instant feedback.</a:t>
            </a:r>
          </a:p>
          <a:p>
            <a:pPr>
              <a:defRPr sz="2200"/>
            </a:pP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8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00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Solutions &amp; Our Contribution</a:t>
            </a:r>
          </a:p>
        </p:txBody>
      </p:sp>
      <p:sp>
        <p:nvSpPr>
          <p:cNvPr id="3" name="TextBox 2"/>
          <p:cNvSpPr txBox="1"/>
          <p:nvPr/>
        </p:nvSpPr>
        <p:spPr>
          <a:xfrm>
            <a:off x="640081" y="1005840"/>
            <a:ext cx="7680959" cy="5509200"/>
          </a:xfrm>
          <a:prstGeom prst="rect">
            <a:avLst/>
          </a:prstGeom>
          <a:noFill/>
        </p:spPr>
        <p:txBody>
          <a:bodyPr wrap="square">
            <a:spAutoFit/>
          </a:bodyPr>
          <a:lstStyle/>
          <a:p>
            <a:pPr>
              <a:defRPr sz="2200"/>
            </a:pPr>
            <a:r>
              <a:rPr lang="en-US" sz="3200" dirty="0"/>
              <a:t>🎓 Provide personalized AI-powered learning for every student.</a:t>
            </a:r>
          </a:p>
          <a:p>
            <a:pPr>
              <a:defRPr sz="2200"/>
            </a:pPr>
            <a:endParaRPr lang="en-US" sz="3200" dirty="0"/>
          </a:p>
          <a:p>
            <a:pPr>
              <a:defRPr sz="2200"/>
            </a:pPr>
            <a:r>
              <a:rPr lang="en-US" sz="3200" dirty="0"/>
              <a:t>🤖 Use an AI tutor for 24/7 learning support and doubt solving.</a:t>
            </a:r>
          </a:p>
          <a:p>
            <a:pPr>
              <a:defRPr sz="2200"/>
            </a:pPr>
            <a:endParaRPr lang="en-US" sz="3200" dirty="0"/>
          </a:p>
          <a:p>
            <a:pPr>
              <a:defRPr sz="2200"/>
            </a:pPr>
            <a:r>
              <a:rPr lang="en-US" sz="3200" dirty="0"/>
              <a:t>📊 Track student progress with real-time performance analytics.</a:t>
            </a:r>
          </a:p>
          <a:p>
            <a:pPr>
              <a:defRPr sz="2200"/>
            </a:pPr>
            <a:endParaRPr lang="en-US" sz="3200" dirty="0"/>
          </a:p>
          <a:p>
            <a:pPr>
              <a:defRPr sz="2200"/>
            </a:pPr>
            <a:r>
              <a:rPr lang="en-US" sz="3200" dirty="0"/>
              <a:t>🌍 Enable anytime, anywhere learning through a smart online platform.</a:t>
            </a:r>
            <a:endParaRPr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284</Words>
  <Application>Microsoft Office PowerPoint</Application>
  <PresentationFormat>Custom</PresentationFormat>
  <Paragraphs>42</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Urbanist</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VIP vipul789</cp:lastModifiedBy>
  <cp:revision>6</cp:revision>
  <dcterms:created xsi:type="dcterms:W3CDTF">2013-01-27T09:14:16Z</dcterms:created>
  <dcterms:modified xsi:type="dcterms:W3CDTF">2026-07-09T08:49:13Z</dcterms:modified>
  <cp:category/>
</cp:coreProperties>
</file>